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8" r:id="rId3"/>
    <p:sldId id="262" r:id="rId4"/>
    <p:sldId id="266" r:id="rId5"/>
    <p:sldId id="268" r:id="rId6"/>
    <p:sldId id="288" r:id="rId7"/>
    <p:sldId id="284" r:id="rId8"/>
    <p:sldId id="269" r:id="rId9"/>
    <p:sldId id="283" r:id="rId10"/>
    <p:sldId id="285" r:id="rId11"/>
    <p:sldId id="270" r:id="rId12"/>
    <p:sldId id="286" r:id="rId13"/>
    <p:sldId id="287" r:id="rId14"/>
    <p:sldId id="275" r:id="rId15"/>
    <p:sldId id="289" r:id="rId16"/>
    <p:sldId id="290" r:id="rId17"/>
    <p:sldId id="291" r:id="rId18"/>
    <p:sldId id="292" r:id="rId19"/>
    <p:sldId id="293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420" y="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7589F83-9C8D-3F83-BD65-B4A74927E4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40D1B6-41AE-C50B-7EF0-A00A725033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95797-EBA9-4F8A-80C9-C8A123CA997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86E14E6-51C6-EAB8-80E3-1DC49CB1C1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A9E5FA-8983-DB07-3433-A4BCAAC7F7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9E097-4E60-48E3-9FD6-291032AD54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2393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A25EC1-2FEC-460A-BDBB-6E13FDA33750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7D987-BBE7-4862-B42E-517C4D44ED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120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C356E-CAC4-0CA7-08AC-65DD3E0C1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5991EF-6225-B66C-A008-9F28DB81F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CBCCEC-DFF3-AB32-C44C-0A14F4E67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华东师大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上海创研院 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投过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90064B-D431-D3A9-E01A-6CA6191F7F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D987-BBE7-4862-B42E-517C4D44ED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865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强调：不是否定 OPSD，而是指出 hidden cost。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E2681-4B65-E9EF-CF6A-1040DA0AF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5F3E57-BD11-9FBA-3BBD-A5D1FCBCF3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3C4AF3-BFC9-B959-6F93-0A559EB395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AC6C2-63A6-7317-452F-046526CA1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44506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A5262-8F42-3106-A37B-9CC1AB97F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5763C-DAF9-CBE8-9424-5DCC03BDB6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9F335-734D-D253-28D6-4BC4719FFE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强调：不是否定 OPSD，而是指出 hidden cost。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FBFF7-9DF5-8BA0-C02F-3320F3CFCD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11030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浙大</a:t>
            </a:r>
            <a:r>
              <a:rPr lang="en-US" altLang="zh-CN" dirty="0"/>
              <a:t>+</a:t>
            </a:r>
            <a:r>
              <a:rPr lang="zh-CN" altLang="en-US" dirty="0"/>
              <a:t>阿里通义实验室 预印未发表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D987-BBE7-4862-B42E-517C4D44ED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300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50754-9D7D-C03B-C633-426B6CC47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E14514-044F-E9F6-57F0-2D94683D9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8FDC0E-46D2-1144-735F-374119FBD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A0C02F-0871-4C3A-62FA-0EB90B5FA5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D987-BBE7-4862-B42E-517C4D44ED5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438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9E7F2-D72E-2BBC-0DD5-003A7C38F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32DAEA-75A6-471A-5747-4516583B6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452A60-408F-3167-DE8D-04EFC548C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2C8489-82E6-7239-3128-5DAC2E9B03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D987-BBE7-4862-B42E-517C4D44ED5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6226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A47BD-6048-F01F-EA16-C668FC57C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DDBA17-1ED9-D779-53CD-71D28B755A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A1CE94-F654-DB9B-F798-DBD6FF97F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14A639-8157-D31C-93E0-FB8D08BE4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D987-BBE7-4862-B42E-517C4D44ED5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487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FFC7E-0D7B-3DCD-EE07-718D37788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1B3D38A-91D2-0449-7C8C-6A5A25F35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936382-47D8-6FD0-E5B7-E9864A7D5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204F5B-FC06-DF18-9B4F-F21FE74079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D987-BBE7-4862-B42E-517C4D44ED5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7933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70DB0-7CC1-9245-6D4B-61847B9EA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9AB6C2-794C-F0AC-DAB5-DDDD65988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10C62C-5A41-53FB-73C2-4C5C65967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ECF1D7-71A3-D04E-A1D1-225219882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7D987-BBE7-4862-B42E-517C4D44ED5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805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67741-5C0E-4AB2-9A25-6D866CFB093C}" type="datetime1">
              <a:rPr lang="en-US" altLang="zh-CN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CF497-A2D4-4B43-9D53-CDD77D34B6D7}" type="datetime1">
              <a:rPr lang="en-US" altLang="zh-CN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C3C49-4D1E-460F-923A-8D2FBD6666FD}" type="datetime1">
              <a:rPr lang="en-US" altLang="zh-CN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F94D7-5F9A-4CAB-8568-6DF2302A3FA1}" type="datetime1">
              <a:rPr lang="en-US" altLang="zh-CN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B9F75-C068-4940-813E-94AA2812D67A}" type="datetime1">
              <a:rPr lang="en-US" altLang="zh-CN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8CEB9-E0D7-4BB3-AEFF-BCCD942D75A4}" type="datetime1">
              <a:rPr lang="en-US" altLang="zh-CN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10F91-E26A-460D-B3FF-8F7D6344A544}" type="datetime1">
              <a:rPr lang="en-US" altLang="zh-CN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696994" y="6355443"/>
            <a:ext cx="2133600" cy="365125"/>
          </a:xfrm>
        </p:spPr>
        <p:txBody>
          <a:bodyPr/>
          <a:lstStyle/>
          <a:p>
            <a:r>
              <a:rPr lang="zh-CN" altLang="en-US" dirty="0"/>
              <a:t>第</a:t>
            </a:r>
            <a:fld id="{C1FF6DA9-008F-8B48-92A6-B652298478BF}" type="slidenum">
              <a:rPr lang="en-US" smtClean="0"/>
              <a:t>‹#›</a:t>
            </a:fld>
            <a:r>
              <a:rPr lang="zh-CN" altLang="en-US" dirty="0"/>
              <a:t>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FE909-2BF1-4003-ACEA-7A7F764E2CB1}" type="datetime1">
              <a:rPr lang="en-US" altLang="zh-CN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93B09-4D21-48C0-88D5-0A0319BEE25F}" type="datetime1">
              <a:rPr lang="en-US" altLang="zh-CN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E8AF5-E30B-492C-8473-D8B258D29438}" type="datetime1">
              <a:rPr lang="en-US" altLang="zh-CN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21C45-409F-426D-9FF6-D61A211B547D}" type="datetime1">
              <a:rPr lang="en-US" altLang="zh-CN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22140-0923-4802-8FA4-12986CF3D1BC}" type="datetime1">
              <a:rPr lang="en-US" altLang="zh-CN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5813194" cy="15081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/>
              <a:t>Paper Share</a:t>
            </a:r>
          </a:p>
          <a:p>
            <a:pPr>
              <a:defRPr sz="2400">
                <a:solidFill>
                  <a:srgbClr val="A8C8E8"/>
                </a:solidFill>
              </a:defRPr>
            </a:pPr>
            <a:r>
              <a:rPr lang="en-US" dirty="0"/>
              <a:t>Recent Advances in On-Policy Self-Distillation</a:t>
            </a:r>
          </a:p>
          <a:p>
            <a:pPr>
              <a:defRPr sz="2400">
                <a:solidFill>
                  <a:srgbClr val="A8C8E8"/>
                </a:solidFill>
              </a:defRPr>
            </a:pPr>
            <a:r>
              <a:rPr dirty="0"/>
              <a:t>2026.07  |  </a:t>
            </a:r>
            <a:r>
              <a:rPr lang="en-US" dirty="0"/>
              <a:t>Hao Wu</a:t>
            </a:r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ACB097-1148-9A13-6D24-7301996FD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C1FF6DA9-008F-8B48-92A6-B652298478BF}" type="slidenum">
              <a:rPr lang="en-US" smtClean="0"/>
              <a:t>1</a:t>
            </a:fld>
            <a:r>
              <a:rPr lang="zh-CN" altLang="en-US"/>
              <a:t>页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2510624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8C8E8"/>
                </a:solidFill>
              </a:defRPr>
            </a:pPr>
            <a:r>
              <a:rPr dirty="0"/>
              <a:t>Part </a:t>
            </a:r>
            <a:r>
              <a:rPr lang="en-US" dirty="0"/>
              <a:t>1</a:t>
            </a:r>
            <a:endParaRPr dirty="0"/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altLang="zh-CN" dirty="0"/>
              <a:t>OPSD </a:t>
            </a:r>
            <a:r>
              <a:rPr lang="zh-CN" altLang="en-US" dirty="0"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回顾</a:t>
            </a:r>
            <a:endParaRPr dirty="0">
              <a:latin typeface="Malgun Gothic Semilight" panose="020B0502040204020203" pitchFamily="34" charset="-122"/>
              <a:ea typeface="Malgun Gothic Semilight" panose="020B0502040204020203" pitchFamily="34" charset="-122"/>
              <a:cs typeface="Malgun Gothic Semilight" panose="020B0502040204020203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9D61E1-D16B-6FC3-932E-D9611B765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C1FF6DA9-008F-8B48-92A6-B652298478BF}" type="slidenum">
              <a:rPr lang="en-US" smtClean="0"/>
              <a:t>2</a:t>
            </a:fld>
            <a:r>
              <a:rPr lang="zh-CN" altLang="en-US"/>
              <a:t>页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OPSD 流程示意（原始方法）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ED952F-D080-27FC-3E7A-38BEC635B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17" y="1379207"/>
            <a:ext cx="10671789" cy="4275144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32B366-E095-DEB3-198E-AEAA18D2F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C1FF6DA9-008F-8B48-92A6-B652298478BF}" type="slidenum">
              <a:rPr lang="en-US" smtClean="0"/>
              <a:t>3</a:t>
            </a:fld>
            <a:r>
              <a:rPr lang="zh-CN" altLang="en-US"/>
              <a:t>页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OPSD vs GRPO：为什么值得研究？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rPr dirty="0"/>
              <a:t>GRPO（RL </a:t>
            </a:r>
            <a:r>
              <a:rPr dirty="0" err="1"/>
              <a:t>代表</a:t>
            </a:r>
            <a:r>
              <a:rPr dirty="0"/>
              <a:t>）</a:t>
            </a:r>
          </a:p>
          <a:p>
            <a:pPr lvl="1">
              <a:spcAft>
                <a:spcPts val="600"/>
              </a:spcAft>
              <a:defRPr sz="1600">
                <a:solidFill>
                  <a:srgbClr val="595959"/>
                </a:solidFill>
              </a:defRPr>
            </a:pPr>
            <a:r>
              <a:rPr dirty="0"/>
              <a:t>  </a:t>
            </a:r>
            <a:r>
              <a:rPr dirty="0" err="1"/>
              <a:t>稀疏：整段</a:t>
            </a:r>
            <a:r>
              <a:rPr dirty="0"/>
              <a:t> rollout </a:t>
            </a:r>
            <a:r>
              <a:rPr dirty="0" err="1"/>
              <a:t>共用一个</a:t>
            </a:r>
            <a:r>
              <a:rPr dirty="0"/>
              <a:t> outcome reward</a:t>
            </a:r>
          </a:p>
          <a:p>
            <a:pPr lvl="1">
              <a:spcAft>
                <a:spcPts val="600"/>
              </a:spcAft>
              <a:defRPr sz="1600">
                <a:solidFill>
                  <a:srgbClr val="595959"/>
                </a:solidFill>
              </a:defRPr>
            </a:pPr>
            <a:r>
              <a:rPr dirty="0"/>
              <a:t>  </a:t>
            </a:r>
            <a:r>
              <a:rPr dirty="0" err="1"/>
              <a:t>昂贵：需多条长</a:t>
            </a:r>
            <a:r>
              <a:rPr dirty="0"/>
              <a:t> rollout + </a:t>
            </a:r>
            <a:r>
              <a:rPr dirty="0" err="1"/>
              <a:t>完整答案才能给分</a:t>
            </a:r>
            <a:endParaRPr dirty="0"/>
          </a:p>
          <a:p>
            <a:pPr lvl="1">
              <a:spcAft>
                <a:spcPts val="600"/>
              </a:spcAft>
              <a:defRPr sz="1600">
                <a:solidFill>
                  <a:srgbClr val="595959"/>
                </a:solidFill>
              </a:defRPr>
            </a:pPr>
            <a:r>
              <a:rPr dirty="0"/>
              <a:t>  </a:t>
            </a:r>
            <a:r>
              <a:rPr dirty="0" err="1"/>
              <a:t>探索：天然鼓励多样性，但</a:t>
            </a:r>
            <a:r>
              <a:rPr dirty="0"/>
              <a:t> credit assignment </a:t>
            </a:r>
            <a:r>
              <a:rPr dirty="0" err="1"/>
              <a:t>粗糙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rPr dirty="0" err="1"/>
              <a:t>OPSD（蒸馏代表</a:t>
            </a:r>
            <a:r>
              <a:rPr dirty="0"/>
              <a:t>）</a:t>
            </a:r>
          </a:p>
          <a:p>
            <a:pPr lvl="1">
              <a:spcAft>
                <a:spcPts val="600"/>
              </a:spcAft>
              <a:defRPr sz="1600">
                <a:solidFill>
                  <a:srgbClr val="595959"/>
                </a:solidFill>
              </a:defRPr>
            </a:pPr>
            <a:r>
              <a:rPr dirty="0"/>
              <a:t>  </a:t>
            </a:r>
            <a:r>
              <a:rPr dirty="0" err="1"/>
              <a:t>密集：每个</a:t>
            </a:r>
            <a:r>
              <a:rPr dirty="0"/>
              <a:t> token </a:t>
            </a:r>
            <a:r>
              <a:rPr dirty="0" err="1"/>
              <a:t>都有</a:t>
            </a:r>
            <a:r>
              <a:rPr dirty="0"/>
              <a:t> teacher </a:t>
            </a:r>
            <a:r>
              <a:rPr dirty="0" err="1"/>
              <a:t>反馈</a:t>
            </a:r>
            <a:endParaRPr dirty="0"/>
          </a:p>
          <a:p>
            <a:pPr lvl="1">
              <a:spcAft>
                <a:spcPts val="600"/>
              </a:spcAft>
              <a:defRPr sz="1600">
                <a:solidFill>
                  <a:srgbClr val="595959"/>
                </a:solidFill>
              </a:defRPr>
            </a:pPr>
            <a:r>
              <a:rPr dirty="0"/>
              <a:t>  高效：1 </a:t>
            </a:r>
            <a:r>
              <a:rPr dirty="0" err="1"/>
              <a:t>条短</a:t>
            </a:r>
            <a:r>
              <a:rPr dirty="0"/>
              <a:t> rollout </a:t>
            </a:r>
            <a:r>
              <a:rPr dirty="0" err="1"/>
              <a:t>即可更新</a:t>
            </a:r>
            <a:endParaRPr dirty="0"/>
          </a:p>
          <a:p>
            <a:pPr lvl="1">
              <a:spcAft>
                <a:spcPts val="600"/>
              </a:spcAft>
              <a:defRPr sz="1600">
                <a:solidFill>
                  <a:srgbClr val="595959"/>
                </a:solidFill>
              </a:defRPr>
            </a:pPr>
            <a:r>
              <a:rPr dirty="0"/>
              <a:t>  </a:t>
            </a:r>
            <a:r>
              <a:rPr dirty="0" err="1"/>
              <a:t>风险：可能</a:t>
            </a:r>
            <a:r>
              <a:rPr dirty="0"/>
              <a:t> overfit 到 reference </a:t>
            </a:r>
            <a:r>
              <a:rPr dirty="0" err="1"/>
              <a:t>捷径</a:t>
            </a:r>
            <a:r>
              <a:rPr dirty="0"/>
              <a:t> / </a:t>
            </a:r>
            <a:r>
              <a:rPr dirty="0" err="1"/>
              <a:t>损失探索性</a:t>
            </a: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800">
                <a:solidFill>
                  <a:srgbClr val="595959"/>
                </a:solidFill>
              </a:defRPr>
            </a:pPr>
            <a:r>
              <a:rPr dirty="0"/>
              <a:t>→ </a:t>
            </a:r>
            <a:r>
              <a:rPr lang="en-US" altLang="zh-CN" dirty="0"/>
              <a:t>OPSD</a:t>
            </a:r>
            <a:r>
              <a:rPr lang="zh-CN" altLang="en-US" dirty="0"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后续研究方向</a:t>
            </a:r>
            <a:r>
              <a:rPr dirty="0"/>
              <a:t>：</a:t>
            </a:r>
            <a:r>
              <a:rPr dirty="0" err="1"/>
              <a:t>保留</a:t>
            </a:r>
            <a:r>
              <a:rPr dirty="0"/>
              <a:t> OPSD </a:t>
            </a:r>
            <a:r>
              <a:rPr dirty="0" err="1"/>
              <a:t>效率，修复其副作用</a:t>
            </a:r>
            <a:endParaRPr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E00FCFB-6E98-6C24-B74B-E5CE6777A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C1FF6DA9-008F-8B48-92A6-B652298478BF}" type="slidenum">
              <a:rPr lang="en-US" smtClean="0"/>
              <a:t>4</a:t>
            </a:fld>
            <a:r>
              <a:rPr lang="zh-CN" altLang="en-US"/>
              <a:t>页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2236510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8C8E8"/>
                </a:solidFill>
              </a:defRPr>
            </a:pPr>
            <a:r>
              <a:rPr dirty="0"/>
              <a:t>Part 2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rPr lang="zh-CN" altLang="en-US" dirty="0"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近期</a:t>
            </a:r>
            <a:r>
              <a:rPr dirty="0" err="1"/>
              <a:t>论文</a:t>
            </a:r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D88148-5ADC-0AEB-7E91-D69B4ECB8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C1FF6DA9-008F-8B48-92A6-B652298478BF}" type="slidenum">
              <a:rPr lang="en-US" smtClean="0"/>
              <a:t>5</a:t>
            </a:fld>
            <a:r>
              <a:rPr lang="zh-CN" altLang="en-US"/>
              <a:t>页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C38CFB-83BE-A3AC-1D14-827599AC2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7EC3DF-015D-3BC8-5A95-42C0F11BEBD8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[P</a:t>
            </a:r>
            <a:r>
              <a:rPr lang="en-US" dirty="0"/>
              <a:t>1</a:t>
            </a:r>
            <a:r>
              <a:rPr dirty="0"/>
              <a:t>] </a:t>
            </a:r>
            <a:r>
              <a:rPr dirty="0" err="1"/>
              <a:t>ReNIO</a:t>
            </a:r>
            <a:endParaRPr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40A6AE2-816F-4991-D199-67716EFB5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917" y="1984972"/>
            <a:ext cx="10142989" cy="2888055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DA1FBD-65DC-2184-FBE0-744712B10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C1FF6DA9-008F-8B48-92A6-B652298478BF}" type="slidenum">
              <a:rPr lang="en-US" smtClean="0"/>
              <a:t>6</a:t>
            </a:fld>
            <a:r>
              <a:rPr lang="zh-CN" altLang="en-US"/>
              <a:t>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732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9D6205-38B1-0026-CF0B-A19E0CE58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544B5A-6BC5-20E9-349E-D9C37FCBB485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[P</a:t>
            </a:r>
            <a:r>
              <a:rPr lang="en-US" dirty="0"/>
              <a:t>1</a:t>
            </a:r>
            <a:r>
              <a:rPr dirty="0"/>
              <a:t>] </a:t>
            </a:r>
            <a:r>
              <a:rPr dirty="0" err="1"/>
              <a:t>ReNIO</a:t>
            </a:r>
            <a:r>
              <a:rPr lang="en-US" dirty="0"/>
              <a:t> </a:t>
            </a:r>
            <a:r>
              <a:rPr lang="en-US" altLang="zh-CN" dirty="0"/>
              <a:t>— Motivation</a:t>
            </a:r>
            <a:endParaRPr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97032CB-53B1-20C3-DE76-B7FBB23B3239}"/>
              </a:ext>
            </a:extLst>
          </p:cNvPr>
          <p:cNvSpPr txBox="1"/>
          <p:nvPr/>
        </p:nvSpPr>
        <p:spPr>
          <a:xfrm>
            <a:off x="504300" y="1541498"/>
            <a:ext cx="3134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标准 OPD/OPSD 的隐含假设</a:t>
            </a:r>
            <a:r>
              <a:rPr lang="en-US" altLang="zh-CN" dirty="0"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:</a:t>
            </a:r>
            <a:endParaRPr lang="zh-CN" altLang="zh-CN" dirty="0">
              <a:latin typeface="Malgun Gothic Semilight" panose="020B0502040204020203" pitchFamily="34" charset="-122"/>
              <a:ea typeface="Malgun Gothic Semilight" panose="020B0502040204020203" pitchFamily="34" charset="-122"/>
              <a:cs typeface="Malgun Gothic Semilight" panose="020B0502040204020203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6B4FA52-72ED-04C9-CFBD-13D16AA722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860"/>
          <a:stretch>
            <a:fillRect/>
          </a:stretch>
        </p:blipFill>
        <p:spPr>
          <a:xfrm>
            <a:off x="1956286" y="2043404"/>
            <a:ext cx="8276252" cy="339583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7434270-E550-7B30-5A82-B7646CC4A639}"/>
              </a:ext>
            </a:extLst>
          </p:cNvPr>
          <p:cNvSpPr txBox="1"/>
          <p:nvPr/>
        </p:nvSpPr>
        <p:spPr>
          <a:xfrm>
            <a:off x="504300" y="5695565"/>
            <a:ext cx="8842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所有 student-generated output（SGO）</a:t>
            </a:r>
            <a:r>
              <a:rPr lang="zh-CN" altLang="zh-CN" b="1" dirty="0"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等权</a:t>
            </a:r>
            <a:r>
              <a:rPr lang="zh-CN" altLang="zh-CN" dirty="0"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参与蒸馏</a:t>
            </a:r>
            <a:r>
              <a:rPr lang="en-US" altLang="zh-CN" dirty="0"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,</a:t>
            </a:r>
            <a:r>
              <a:rPr lang="zh-CN" altLang="zh-CN" dirty="0"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每条 rollout 对 loss 贡献相同。</a:t>
            </a:r>
            <a:endParaRPr lang="zh-CN" altLang="en-US" dirty="0">
              <a:latin typeface="Malgun Gothic Semilight" panose="020B0502040204020203" pitchFamily="34" charset="-122"/>
              <a:ea typeface="Malgun Gothic Semilight" panose="020B0502040204020203" pitchFamily="34" charset="-122"/>
              <a:cs typeface="Malgun Gothic Semilight" panose="020B0502040204020203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CFA661-2B37-57C9-D228-429CF1D50885}"/>
              </a:ext>
            </a:extLst>
          </p:cNvPr>
          <p:cNvSpPr/>
          <p:nvPr/>
        </p:nvSpPr>
        <p:spPr>
          <a:xfrm>
            <a:off x="4393697" y="4879320"/>
            <a:ext cx="439560" cy="3830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20173E-CF18-F557-CFA8-F882AA3EC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C1FF6DA9-008F-8B48-92A6-B652298478BF}" type="slidenum">
              <a:rPr lang="en-US" smtClean="0"/>
              <a:t>7</a:t>
            </a:fld>
            <a:r>
              <a:rPr lang="zh-CN" altLang="en-US"/>
              <a:t>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22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US" altLang="zh-CN" dirty="0"/>
              <a:t>[P1] </a:t>
            </a:r>
            <a:r>
              <a:rPr lang="en-US" altLang="zh-CN" dirty="0" err="1"/>
              <a:t>ReNIO</a:t>
            </a:r>
            <a:r>
              <a:rPr lang="en-US" altLang="zh-CN" dirty="0"/>
              <a:t> — Motivation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E381EB-C430-2F3F-496B-E92E83EB6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06" y="2162096"/>
            <a:ext cx="5401429" cy="252447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55CE3F0-9E82-6825-521D-7B3163C9F89D}"/>
              </a:ext>
            </a:extLst>
          </p:cNvPr>
          <p:cNvSpPr txBox="1"/>
          <p:nvPr/>
        </p:nvSpPr>
        <p:spPr>
          <a:xfrm>
            <a:off x="7065912" y="3101168"/>
            <a:ext cx="4429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错误轨迹训练 &gt; 正确轨迹训练</a:t>
            </a:r>
            <a:r>
              <a:rPr lang="zh-CN" altLang="zh-CN" dirty="0"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，OPD 和 OPSD 均如此。</a:t>
            </a:r>
            <a:endParaRPr lang="zh-CN" altLang="en-US" dirty="0">
              <a:latin typeface="Malgun Gothic Semilight" panose="020B0502040204020203" pitchFamily="34" charset="-122"/>
              <a:ea typeface="Malgun Gothic Semilight" panose="020B0502040204020203" pitchFamily="34" charset="-122"/>
              <a:cs typeface="Malgun Gothic Semilight" panose="020B0502040204020203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8680AE-BA56-6BE7-0B74-F11383E8C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C1FF6DA9-008F-8B48-92A6-B652298478BF}" type="slidenum">
              <a:rPr lang="en-US" smtClean="0"/>
              <a:t>8</a:t>
            </a:fld>
            <a:r>
              <a:rPr lang="zh-CN" altLang="en-US"/>
              <a:t>页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B073E4-F065-D9B6-C6CF-7A639BA11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22C39D-8824-AB3E-2C87-491E1332F571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US" altLang="zh-CN" dirty="0"/>
              <a:t>[P1] </a:t>
            </a:r>
            <a:r>
              <a:rPr lang="en-US" altLang="zh-CN" dirty="0" err="1"/>
              <a:t>ReNIO</a:t>
            </a:r>
            <a:r>
              <a:rPr lang="en-US" altLang="zh-CN" dirty="0"/>
              <a:t> — Motivation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5FDF714-6E97-8D32-5385-B12390BAA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36" y="2285840"/>
            <a:ext cx="5201376" cy="228631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BAA13A4-3040-6DD4-9C70-386D1F972454}"/>
              </a:ext>
            </a:extLst>
          </p:cNvPr>
          <p:cNvSpPr txBox="1"/>
          <p:nvPr/>
        </p:nvSpPr>
        <p:spPr>
          <a:xfrm>
            <a:off x="6883404" y="2690335"/>
            <a:ext cx="42573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Correct-only → 巩固已有成功路径，模型变「自信」、探索性下降</a:t>
            </a:r>
            <a:endParaRPr lang="en-US" altLang="zh-CN" dirty="0">
              <a:latin typeface="Malgun Gothic Semilight" panose="020B0502040204020203" pitchFamily="34" charset="-122"/>
              <a:ea typeface="Malgun Gothic Semilight" panose="020B0502040204020203" pitchFamily="34" charset="-122"/>
              <a:cs typeface="Malgun Gothic Semilight" panose="020B0502040204020203" pitchFamily="34" charset="-122"/>
            </a:endParaRPr>
          </a:p>
          <a:p>
            <a:endParaRPr lang="zh-CN" altLang="zh-CN" dirty="0">
              <a:latin typeface="Malgun Gothic Semilight" panose="020B0502040204020203" pitchFamily="34" charset="-122"/>
              <a:ea typeface="Malgun Gothic Semilight" panose="020B0502040204020203" pitchFamily="34" charset="-122"/>
              <a:cs typeface="Malgun Gothic Semilight" panose="020B0502040204020203" pitchFamily="34" charset="-122"/>
            </a:endParaRPr>
          </a:p>
          <a:p>
            <a:r>
              <a:rPr lang="zh-CN" altLang="zh-CN" dirty="0"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Incorrect-only → 暴露当前 policy 边界附近的失败模式，保留 cautious reasoning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32635D-438F-0778-6CB8-F06CB90E6672}"/>
              </a:ext>
            </a:extLst>
          </p:cNvPr>
          <p:cNvSpPr txBox="1"/>
          <p:nvPr/>
        </p:nvSpPr>
        <p:spPr>
          <a:xfrm>
            <a:off x="4371825" y="5482826"/>
            <a:ext cx="3445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b="1" dirty="0"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rollout 到最终答案才</a:t>
            </a:r>
            <a:r>
              <a:rPr lang="zh-CN" altLang="en-US" b="1" dirty="0"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能</a:t>
            </a:r>
            <a:r>
              <a:rPr lang="zh-CN" altLang="zh-CN" b="1" dirty="0"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知道对错</a:t>
            </a:r>
            <a:endParaRPr lang="zh-CN" altLang="en-US" dirty="0">
              <a:latin typeface="Malgun Gothic Semilight" panose="020B0502040204020203" pitchFamily="34" charset="-122"/>
              <a:ea typeface="Malgun Gothic Semilight" panose="020B0502040204020203" pitchFamily="34" charset="-122"/>
              <a:cs typeface="Malgun Gothic Semilight" panose="020B0502040204020203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12FF8A-7F23-89F3-7F4D-A433D6C7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C1FF6DA9-008F-8B48-92A6-B652298478BF}" type="slidenum">
              <a:rPr lang="en-US" smtClean="0"/>
              <a:t>9</a:t>
            </a:fld>
            <a:r>
              <a:rPr lang="zh-CN" altLang="en-US"/>
              <a:t>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746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BE16F2-2EA6-8740-63B7-B7CFC7F6D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CAF73C-E0B8-58EE-53EA-EFD7171A5A51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US" altLang="zh-CN" dirty="0"/>
              <a:t>[P1] </a:t>
            </a:r>
            <a:r>
              <a:rPr lang="en-US" altLang="zh-CN" dirty="0" err="1"/>
              <a:t>ReNIO</a:t>
            </a:r>
            <a:r>
              <a:rPr lang="en-US" altLang="zh-CN" dirty="0"/>
              <a:t> — Motivation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BB01C70-19FB-4193-CEE0-6A48DFB60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99" y="1366549"/>
            <a:ext cx="10574226" cy="4124901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4CFBBF-6238-A598-0D95-6F021727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C1FF6DA9-008F-8B48-92A6-B652298478BF}" type="slidenum">
              <a:rPr lang="en-US" smtClean="0"/>
              <a:t>10</a:t>
            </a:fld>
            <a:r>
              <a:rPr lang="zh-CN" altLang="en-US"/>
              <a:t>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049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US" altLang="zh-CN" dirty="0"/>
              <a:t>[P1] </a:t>
            </a:r>
            <a:r>
              <a:rPr lang="en-US" altLang="zh-CN" dirty="0" err="1"/>
              <a:t>ReNIO</a:t>
            </a:r>
            <a:r>
              <a:rPr lang="en-US" altLang="zh-CN" dirty="0"/>
              <a:t> — Method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07981D8-FE7A-CB00-1B6C-B7EB3963B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27" y="1257766"/>
            <a:ext cx="5849375" cy="5171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467335-A806-EBE6-3C71-B88F0708E75F}"/>
                  </a:ext>
                </a:extLst>
              </p:cNvPr>
              <p:cNvSpPr txBox="1"/>
              <p:nvPr/>
            </p:nvSpPr>
            <p:spPr>
              <a:xfrm>
                <a:off x="7033741" y="3243113"/>
                <a:ext cx="445105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dirty="0">
                    <a:latin typeface="Malgun Gothic Semilight" panose="020B0502040204020203" pitchFamily="34" charset="-122"/>
                    <a:ea typeface="Malgun Gothic Semilight" panose="020B0502040204020203" pitchFamily="34" charset="-122"/>
                    <a:cs typeface="Malgun Gothic Semilight" panose="020B0502040204020203" pitchFamily="34" charset="-122"/>
                  </a:rPr>
                  <a:t>用 student/teacher 概率比 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zh-CN" b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zh-CN" altLang="zh-CN" dirty="0">
                    <a:latin typeface="Malgun Gothic Semilight" panose="020B0502040204020203" pitchFamily="34" charset="-122"/>
                    <a:ea typeface="Malgun Gothic Semilight" panose="020B0502040204020203" pitchFamily="34" charset="-122"/>
                    <a:cs typeface="Malgun Gothic Semilight" panose="020B0502040204020203" pitchFamily="34" charset="-122"/>
                  </a:rPr>
                  <a:t> 识别 pivotal token，聚合成 sample-level 权重，给「Student 坚持、Teacher 拒绝」的分支更高权重——无需知道最终答案是否正确。</a:t>
                </a:r>
                <a:endParaRPr lang="zh-CN" altLang="en-US" dirty="0">
                  <a:latin typeface="Malgun Gothic Semilight" panose="020B0502040204020203" pitchFamily="34" charset="-122"/>
                  <a:ea typeface="Malgun Gothic Semilight" panose="020B0502040204020203" pitchFamily="34" charset="-122"/>
                  <a:cs typeface="Malgun Gothic Semi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5467335-A806-EBE6-3C71-B88F0708E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741" y="3243113"/>
                <a:ext cx="4451057" cy="1200329"/>
              </a:xfrm>
              <a:prstGeom prst="rect">
                <a:avLst/>
              </a:prstGeom>
              <a:blipFill>
                <a:blip r:embed="rId4"/>
                <a:stretch>
                  <a:fillRect l="-1233" t="-3046" r="-1507"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B4DE4B-F4A1-92D2-09A4-1826097E0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C1FF6DA9-008F-8B48-92A6-B652298478BF}" type="slidenum">
              <a:rPr lang="en-US" smtClean="0"/>
              <a:t>11</a:t>
            </a:fld>
            <a:r>
              <a:rPr lang="zh-CN" altLang="en-US"/>
              <a:t>页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9A0774-C5CF-37AC-DC82-95AED1BA5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A77EBD-1ACA-5DBA-80F1-74E42B6E8C63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US" altLang="zh-CN" dirty="0"/>
              <a:t>[P1] </a:t>
            </a:r>
            <a:r>
              <a:rPr lang="en-US" altLang="zh-CN" dirty="0" err="1"/>
              <a:t>ReNIO</a:t>
            </a:r>
            <a:r>
              <a:rPr lang="en-US" altLang="zh-CN" dirty="0"/>
              <a:t> — Method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6EFCC6-D9B8-74E0-9DF7-3752A9970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730" y="1235270"/>
            <a:ext cx="3562739" cy="45628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C752013-05CB-7F9F-DF84-CE0267A3F1DA}"/>
                  </a:ext>
                </a:extLst>
              </p:cNvPr>
              <p:cNvSpPr txBox="1"/>
              <p:nvPr/>
            </p:nvSpPr>
            <p:spPr>
              <a:xfrm>
                <a:off x="506100" y="5912067"/>
                <a:ext cx="4826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dirty="0">
                    <a:latin typeface="Malgun Gothic Semilight" panose="020B0502040204020203" pitchFamily="34" charset="-122"/>
                    <a:ea typeface="Malgun Gothic Semilight" panose="020B0502040204020203" pitchFamily="34" charset="-122"/>
                    <a:cs typeface="Malgun Gothic Semilight" panose="020B0502040204020203" pitchFamily="34" charset="-122"/>
                  </a:rPr>
                  <a:t>Figure 3：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zh-CN" dirty="0">
                    <a:latin typeface="Malgun Gothic Semilight" panose="020B0502040204020203" pitchFamily="34" charset="-122"/>
                    <a:ea typeface="Malgun Gothic Semilight" panose="020B0502040204020203" pitchFamily="34" charset="-122"/>
                    <a:cs typeface="Malgun Gothic Semilight" panose="020B0502040204020203" pitchFamily="34" charset="-122"/>
                  </a:rPr>
                  <a:t> 分布长尾，绝大多数 token 接近 0，少数 pivotal token 很大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EC752013-05CB-7F9F-DF84-CE0267A3F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00" y="5912067"/>
                <a:ext cx="4826000" cy="646331"/>
              </a:xfrm>
              <a:prstGeom prst="rect">
                <a:avLst/>
              </a:prstGeom>
              <a:blipFill>
                <a:blip r:embed="rId4"/>
                <a:stretch>
                  <a:fillRect l="-1010" t="-6604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A6C8C83A-7702-92BB-7BA3-9260D33CC1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888" y="1235270"/>
            <a:ext cx="4643045" cy="5323129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96DFD0-5539-40DE-7A03-B96B5D80F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C1FF6DA9-008F-8B48-92A6-B652298478BF}" type="slidenum">
              <a:rPr lang="en-US" smtClean="0"/>
              <a:t>12</a:t>
            </a:fld>
            <a:r>
              <a:rPr lang="zh-CN" altLang="en-US"/>
              <a:t>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96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1231FB-9C58-39F1-6A7C-E80026745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DC0378-608F-206E-CEAA-23EFB29D64E3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lang="en-US" altLang="zh-CN" dirty="0"/>
              <a:t>[P1] </a:t>
            </a:r>
            <a:r>
              <a:rPr lang="en-US" altLang="zh-CN" dirty="0" err="1"/>
              <a:t>ReNIO</a:t>
            </a:r>
            <a:r>
              <a:rPr lang="en-US" altLang="zh-CN" dirty="0"/>
              <a:t> — Experiment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67F7FFE-0794-9614-4A4D-1583D87C3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75" y="1427584"/>
            <a:ext cx="6547932" cy="505719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6E1D251-AEA4-8B68-6B0F-C60B20A93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207" y="1427584"/>
            <a:ext cx="4794791" cy="218602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D13D981-B060-F79C-6A11-A1F6E062DF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9506" y="3614876"/>
            <a:ext cx="3756193" cy="28699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7EAD93-D49F-F31D-42F0-87D4B2924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C1FF6DA9-008F-8B48-92A6-B652298478BF}" type="slidenum">
              <a:rPr lang="en-US" smtClean="0"/>
              <a:t>13</a:t>
            </a:fld>
            <a:r>
              <a:rPr lang="zh-CN" altLang="en-US"/>
              <a:t>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099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[P</a:t>
            </a:r>
            <a:r>
              <a:rPr lang="en-US" dirty="0"/>
              <a:t>2</a:t>
            </a:r>
            <a:r>
              <a:rPr dirty="0"/>
              <a:t>] </a:t>
            </a:r>
            <a:r>
              <a:rPr lang="en-US" altLang="zh-CN" dirty="0"/>
              <a:t>Purified OPSD</a:t>
            </a:r>
            <a:endParaRPr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B4B8BB7-D332-5DBB-87BF-5C9AD8573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024" y="1647640"/>
            <a:ext cx="8026776" cy="380143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FCF722-C7B7-9C03-5092-A50ABD663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C1FF6DA9-008F-8B48-92A6-B652298478BF}" type="slidenum">
              <a:rPr lang="en-US" smtClean="0"/>
              <a:t>14</a:t>
            </a:fld>
            <a:r>
              <a:rPr lang="zh-CN" altLang="en-US"/>
              <a:t>页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01BC1-B963-8218-4580-2908B76E3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2D117A-679C-2320-263B-2871968CDABD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[P</a:t>
            </a:r>
            <a:r>
              <a:rPr lang="en-US" dirty="0"/>
              <a:t>2</a:t>
            </a:r>
            <a:r>
              <a:rPr dirty="0"/>
              <a:t>] </a:t>
            </a:r>
            <a:r>
              <a:rPr lang="en-US" altLang="zh-CN" dirty="0"/>
              <a:t>Purified OPSD — Motivation</a:t>
            </a:r>
            <a:endParaRPr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5C63C33-692F-910A-D854-328FB50DC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39" y="1195889"/>
            <a:ext cx="6779924" cy="278313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8FA39E6-E9D1-F100-2802-64C5047EA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39" y="4073015"/>
            <a:ext cx="6779924" cy="268804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9B1BD07-1EF4-D49C-1570-46F34DC3E67A}"/>
              </a:ext>
            </a:extLst>
          </p:cNvPr>
          <p:cNvSpPr txBox="1"/>
          <p:nvPr/>
        </p:nvSpPr>
        <p:spPr>
          <a:xfrm>
            <a:off x="7970481" y="3517361"/>
            <a:ext cx="35413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long-CoT 模型</a:t>
            </a:r>
            <a:r>
              <a:rPr lang="zh-CN" altLang="zh-CN" dirty="0"/>
              <a:t>上</a:t>
            </a:r>
            <a:r>
              <a:rPr lang="zh-CN" altLang="zh-CN" b="1" dirty="0"/>
              <a:t>先升后降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OPSD</a:t>
            </a:r>
            <a:r>
              <a:rPr lang="zh-CN" altLang="en-US" b="1" dirty="0"/>
              <a:t>在破坏反思能力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B4FFC7-84A5-61A8-4456-BCAF4DAE7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C1FF6DA9-008F-8B48-92A6-B652298478BF}" type="slidenum">
              <a:rPr lang="en-US" smtClean="0"/>
              <a:t>15</a:t>
            </a:fld>
            <a:r>
              <a:rPr lang="zh-CN" altLang="en-US"/>
              <a:t>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208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E2ED75-F632-9488-2243-6A3F29AB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4033CA-F287-08A8-A53B-BEF18FDA711D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[P</a:t>
            </a:r>
            <a:r>
              <a:rPr lang="en-US" dirty="0"/>
              <a:t>2</a:t>
            </a:r>
            <a:r>
              <a:rPr dirty="0"/>
              <a:t>] </a:t>
            </a:r>
            <a:r>
              <a:rPr lang="en-US" altLang="zh-CN" dirty="0"/>
              <a:t>Purified OPSD — Motivation</a:t>
            </a:r>
            <a:endParaRPr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79292AA-8414-FA53-E125-0187164BD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97" y="2571020"/>
            <a:ext cx="8823557" cy="390537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975E5B4-4950-DEAE-649B-C7975CF22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97" y="1420785"/>
            <a:ext cx="6182588" cy="8192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38E7278-ACD3-A623-D016-4F43F3322BBF}"/>
                  </a:ext>
                </a:extLst>
              </p:cNvPr>
              <p:cNvSpPr txBox="1"/>
              <p:nvPr/>
            </p:nvSpPr>
            <p:spPr>
              <a:xfrm>
                <a:off x="7484506" y="1488752"/>
                <a:ext cx="4813241" cy="683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dirty="0">
                    <a:latin typeface="Malgun Gothic Semilight" panose="020B0502040204020203" pitchFamily="34" charset="-122"/>
                    <a:ea typeface="Malgun Gothic Semilight" panose="020B0502040204020203" pitchFamily="34" charset="-122"/>
                    <a:cs typeface="Malgun Gothic Semilight" panose="020B0502040204020203" pitchFamily="34" charset="-122"/>
                  </a:rPr>
                  <a:t>构造 reference-only teacher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i="1">
                            <a:latin typeface="Malgun Gothic Semilight" panose="020B0502040204020203" pitchFamily="34" charset="-122"/>
                            <a:ea typeface="Malgun Gothic Semilight" panose="020B0502040204020203" pitchFamily="34" charset="-122"/>
                            <a:cs typeface="Malgun Gothic Semilight" panose="020B0502040204020203" pitchFamily="34" charset="-122"/>
                          </a:rPr>
                          <m:t>ref</m:t>
                        </m:r>
                      </m:sub>
                    </m:sSub>
                  </m:oMath>
                </a14:m>
                <a:r>
                  <a:rPr lang="zh-CN" altLang="zh-CN" dirty="0">
                    <a:latin typeface="Malgun Gothic Semilight" panose="020B0502040204020203" pitchFamily="34" charset="-122"/>
                    <a:ea typeface="Malgun Gothic Semilight" panose="020B0502040204020203" pitchFamily="34" charset="-122"/>
                    <a:cs typeface="Malgun Gothic Semilight" panose="020B0502040204020203" pitchFamily="34" charset="-122"/>
                  </a:rPr>
                  <a:t>：只看 reference 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zh-CN" dirty="0">
                    <a:latin typeface="Malgun Gothic Semilight" panose="020B0502040204020203" pitchFamily="34" charset="-122"/>
                    <a:ea typeface="Malgun Gothic Semilight" panose="020B0502040204020203" pitchFamily="34" charset="-122"/>
                    <a:cs typeface="Malgun Gothic Semilight" panose="020B0502040204020203" pitchFamily="34" charset="-122"/>
                  </a:rPr>
                  <a:t>，不看问题 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zh-CN" altLang="en-US" dirty="0">
                  <a:latin typeface="Malgun Gothic Semilight" panose="020B0502040204020203" pitchFamily="34" charset="-122"/>
                  <a:ea typeface="Malgun Gothic Semilight" panose="020B0502040204020203" pitchFamily="34" charset="-122"/>
                  <a:cs typeface="Malgun Gothic Semilight" panose="020B0502040204020203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38E7278-ACD3-A623-D016-4F43F3322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4506" y="1488752"/>
                <a:ext cx="4813241" cy="683329"/>
              </a:xfrm>
              <a:prstGeom prst="rect">
                <a:avLst/>
              </a:prstGeom>
              <a:blipFill>
                <a:blip r:embed="rId5"/>
                <a:stretch>
                  <a:fillRect l="-1141" t="-5357" b="-13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946C01-C88C-95B4-EA8E-70533D847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C1FF6DA9-008F-8B48-92A6-B652298478BF}" type="slidenum">
              <a:rPr lang="en-US" smtClean="0"/>
              <a:t>16</a:t>
            </a:fld>
            <a:r>
              <a:rPr lang="zh-CN" altLang="en-US"/>
              <a:t>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645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00AB9-6C4E-A20E-00D0-CDA23B7E0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4568BD-BEF5-051A-A8E2-13F792DB0A67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[P</a:t>
            </a:r>
            <a:r>
              <a:rPr lang="en-US" dirty="0"/>
              <a:t>2</a:t>
            </a:r>
            <a:r>
              <a:rPr dirty="0"/>
              <a:t>] </a:t>
            </a:r>
            <a:r>
              <a:rPr lang="en-US" altLang="zh-CN" dirty="0"/>
              <a:t>Purified OPSD — Method</a:t>
            </a:r>
            <a:endParaRPr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F40DF08-91D9-0878-5CC5-5BEEC6973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84" y="1567543"/>
            <a:ext cx="5619099" cy="47856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CC97EE3-210B-B23C-A387-51D205CD3C80}"/>
                  </a:ext>
                </a:extLst>
              </p:cNvPr>
              <p:cNvSpPr txBox="1"/>
              <p:nvPr/>
            </p:nvSpPr>
            <p:spPr>
              <a:xfrm>
                <a:off x="7548465" y="3107094"/>
                <a:ext cx="4233851" cy="21003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zh-CN" dirty="0">
                    <a:latin typeface="Malgun Gothic Semilight" panose="020B0502040204020203" pitchFamily="34" charset="-122"/>
                    <a:ea typeface="Malgun Gothic Semilight" panose="020B0502040204020203" pitchFamily="34" charset="-122"/>
                    <a:cs typeface="Malgun Gothic Semilight" panose="020B0502040204020203" pitchFamily="34" charset="-122"/>
                  </a:rPr>
                  <a:t>PMI​ 是从优化问题推出来的合法分布：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i="1">
                              <a:latin typeface="Malgun Gothic Semilight" panose="020B0502040204020203" pitchFamily="34" charset="-122"/>
                              <a:ea typeface="Malgun Gothic Semilight" panose="020B0502040204020203" pitchFamily="34" charset="-122"/>
                              <a:cs typeface="Malgun Gothic Semilight" panose="020B0502040204020203" pitchFamily="34" charset="-122"/>
                            </a:rPr>
                            <m:t>PMI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CN" altLang="en-US">
                          <a:latin typeface="Cambria Math" panose="02040503050406030204" pitchFamily="18" charset="0"/>
                        </a:rPr>
                        <m:t>∝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m:rPr>
                          <m:nor/>
                        </m:rPr>
                        <a:rPr lang="zh-CN" altLang="en-US" i="1">
                          <a:latin typeface="Malgun Gothic Semilight" panose="020B0502040204020203" pitchFamily="34" charset="-122"/>
                          <a:ea typeface="Malgun Gothic Semilight" panose="020B0502040204020203" pitchFamily="34" charset="-122"/>
                          <a:cs typeface="Malgun Gothic Semilight" panose="020B0502040204020203" pitchFamily="34" charset="-122"/>
                        </a:rPr>
                        <m:t> </m:t>
                      </m:r>
                      <m:func>
                        <m:func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m:rPr>
                              <m:nor/>
                            </m:rPr>
                            <a:rPr lang="zh-CN" altLang="en-US" i="1">
                              <a:latin typeface="Malgun Gothic Semilight" panose="020B0502040204020203" pitchFamily="34" charset="-122"/>
                              <a:ea typeface="Malgun Gothic Semilight" panose="020B0502040204020203" pitchFamily="34" charset="-122"/>
                              <a:cs typeface="Malgun Gothic Semilight" panose="020B0502040204020203" pitchFamily="34" charset="-122"/>
                            </a:rPr>
                            <m:t> </m:t>
                          </m:r>
                        </m:e>
                      </m:func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CN" i="1">
                                      <a:latin typeface="Malgun Gothic Semilight" panose="020B0502040204020203" pitchFamily="34" charset="-122"/>
                                      <a:ea typeface="Malgun Gothic Semilight" panose="020B0502040204020203" pitchFamily="34" charset="-122"/>
                                      <a:cs typeface="Malgun Gothic Semilight" panose="020B0502040204020203" pitchFamily="34" charset="-122"/>
                                    </a:rPr>
                                    <m:t>it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num>
                            <m:den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b="0" dirty="0">
                  <a:latin typeface="Malgun Gothic Semilight" panose="020B0502040204020203" pitchFamily="34" charset="-122"/>
                  <a:ea typeface="Malgun Gothic Semilight" panose="020B0502040204020203" pitchFamily="34" charset="-122"/>
                  <a:cs typeface="Malgun Gothic Semilight" panose="020B0502040204020203" pitchFamily="34" charset="-122"/>
                </a:endParaRPr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zh-CN" altLang="zh-CN" dirty="0">
                    <a:latin typeface="Malgun Gothic Semilight" panose="020B0502040204020203" pitchFamily="34" charset="-122"/>
                    <a:ea typeface="Malgun Gothic Semilight" panose="020B0502040204020203" pitchFamily="34" charset="-122"/>
                    <a:cs typeface="Malgun Gothic Semilight" panose="020B0502040204020203" pitchFamily="34" charset="-122"/>
                  </a:rPr>
                  <a:t>是概率分布（归一化后）</a:t>
                </a:r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zh-CN" altLang="zh-CN" dirty="0">
                    <a:latin typeface="Malgun Gothic Semilight" panose="020B0502040204020203" pitchFamily="34" charset="-122"/>
                    <a:ea typeface="Malgun Gothic Semilight" panose="020B0502040204020203" pitchFamily="34" charset="-122"/>
                    <a:cs typeface="Malgun Gothic Semilight" panose="020B0502040204020203" pitchFamily="34" charset="-122"/>
                  </a:rPr>
                  <a:t>可以直接做 JSD 蒸馏</a:t>
                </a:r>
              </a:p>
              <a:p>
                <a:pPr marL="285750" indent="-285750">
                  <a:buFont typeface="Wingdings" panose="05000000000000000000" pitchFamily="2" charset="2"/>
                  <a:buChar char="l"/>
                </a:pPr>
                <a:r>
                  <a:rPr lang="zh-CN" altLang="zh-CN" dirty="0">
                    <a:latin typeface="Malgun Gothic Semilight" panose="020B0502040204020203" pitchFamily="34" charset="-122"/>
                    <a:ea typeface="Malgun Gothic Semilight" panose="020B0502040204020203" pitchFamily="34" charset="-122"/>
                    <a:cs typeface="Malgun Gothic Semilight" panose="020B0502040204020203" pitchFamily="34" charset="-122"/>
                  </a:rPr>
                  <a:t>有 KL 正则下的最优性（Eq. 7–8）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CC97EE3-210B-B23C-A387-51D205CD3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8465" y="3107094"/>
                <a:ext cx="4233851" cy="2100383"/>
              </a:xfrm>
              <a:prstGeom prst="rect">
                <a:avLst/>
              </a:prstGeom>
              <a:blipFill>
                <a:blip r:embed="rId4"/>
                <a:stretch>
                  <a:fillRect l="-1151" t="-2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80AA05-96B8-3D82-A4E4-78AF3952D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C1FF6DA9-008F-8B48-92A6-B652298478BF}" type="slidenum">
              <a:rPr lang="en-US" smtClean="0"/>
              <a:t>17</a:t>
            </a:fld>
            <a:r>
              <a:rPr lang="zh-CN" altLang="en-US"/>
              <a:t>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15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61287-912F-EB68-7DE8-0C0C79B96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5D70D7-D036-B2D3-B3A0-C2FF242E97C5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[P</a:t>
            </a:r>
            <a:r>
              <a:rPr lang="en-US" dirty="0"/>
              <a:t>2</a:t>
            </a:r>
            <a:r>
              <a:rPr dirty="0"/>
              <a:t>] </a:t>
            </a:r>
            <a:r>
              <a:rPr lang="en-US" altLang="zh-CN" dirty="0"/>
              <a:t>Purified OPSD — Method</a:t>
            </a:r>
            <a:endParaRPr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2C0227-E8B8-93BD-98E5-A70889EF3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01" y="1780945"/>
            <a:ext cx="7592485" cy="329611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3BD12C0-EE31-4752-E9C3-1C037870855C}"/>
              </a:ext>
            </a:extLst>
          </p:cNvPr>
          <p:cNvSpPr txBox="1"/>
          <p:nvPr/>
        </p:nvSpPr>
        <p:spPr>
          <a:xfrm>
            <a:off x="8127525" y="2967335"/>
            <a:ext cx="37038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zh-CN" dirty="0"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全局偏移带来数值问题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dirty="0">
              <a:latin typeface="Malgun Gothic Semilight" panose="020B0502040204020203" pitchFamily="34" charset="-122"/>
              <a:ea typeface="Malgun Gothic Semilight" panose="020B0502040204020203" pitchFamily="34" charset="-122"/>
              <a:cs typeface="Malgun Gothic Semilight" panose="020B0502040204020203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zh-CN" dirty="0"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极端值会让 target 几乎 one-hot</a:t>
            </a:r>
            <a:endParaRPr lang="en-US" altLang="zh-CN" dirty="0">
              <a:latin typeface="Malgun Gothic Semilight" panose="020B0502040204020203" pitchFamily="34" charset="-122"/>
              <a:ea typeface="Malgun Gothic Semilight" panose="020B0502040204020203" pitchFamily="34" charset="-122"/>
              <a:cs typeface="Malgun Gothic Semilight" panose="020B0502040204020203" pitchFamily="34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6784CB-DF57-0D7A-5822-A967CACE9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C1FF6DA9-008F-8B48-92A6-B652298478BF}" type="slidenum">
              <a:rPr lang="en-US" smtClean="0"/>
              <a:t>18</a:t>
            </a:fld>
            <a:r>
              <a:rPr lang="zh-CN" altLang="en-US"/>
              <a:t>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627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7306A3-599D-AF73-78C4-08E5B6BFE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CD265A-5721-FCC7-9BC1-C4DCFC8D3FEB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[P</a:t>
            </a:r>
            <a:r>
              <a:rPr lang="en-US" dirty="0"/>
              <a:t>2</a:t>
            </a:r>
            <a:r>
              <a:rPr dirty="0"/>
              <a:t>] </a:t>
            </a:r>
            <a:r>
              <a:rPr lang="en-US" altLang="zh-CN" dirty="0"/>
              <a:t>Purified OPSD — Method</a:t>
            </a:r>
            <a:endParaRPr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AD4ADC5-A2F5-F00E-6F48-04028DD50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49" y="1287624"/>
            <a:ext cx="5840051" cy="528112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5B0E6DD-340D-8168-BC6E-91C31526A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700" y="1287624"/>
            <a:ext cx="5525203" cy="257524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CC46627-AA53-6B71-BCC0-DE48ECAB9AD2}"/>
              </a:ext>
            </a:extLst>
          </p:cNvPr>
          <p:cNvSpPr txBox="1"/>
          <p:nvPr/>
        </p:nvSpPr>
        <p:spPr>
          <a:xfrm>
            <a:off x="7604449" y="4924045"/>
            <a:ext cx="35189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>
                <a:latin typeface="Malgun Gothic Semilight" panose="020B0502040204020203" pitchFamily="34" charset="-122"/>
                <a:ea typeface="Malgun Gothic Semilight" panose="020B0502040204020203" pitchFamily="34" charset="-122"/>
                <a:cs typeface="Malgun Gothic Semilight" panose="020B0502040204020203" pitchFamily="34" charset="-122"/>
              </a:rPr>
              <a:t>PMI 四模型 × 两数据集一致提升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DC730F-0BBD-C8DD-DF79-338D7891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CN" altLang="en-US"/>
              <a:t>第</a:t>
            </a:r>
            <a:fld id="{C1FF6DA9-008F-8B48-92A6-B652298478BF}" type="slidenum">
              <a:rPr lang="en-US" smtClean="0"/>
              <a:t>19</a:t>
            </a:fld>
            <a:r>
              <a:rPr lang="zh-CN" altLang="en-US"/>
              <a:t>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585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528</Words>
  <Application>Microsoft Office PowerPoint</Application>
  <PresentationFormat>自定义</PresentationFormat>
  <Paragraphs>85</Paragraphs>
  <Slides>19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Malgun Gothic Semilight</vt:lpstr>
      <vt:lpstr>等线</vt:lpstr>
      <vt:lpstr>Arial</vt:lpstr>
      <vt:lpstr>Calibri</vt:lpstr>
      <vt:lpstr>Cambria Math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浩 吴</cp:lastModifiedBy>
  <cp:revision>3</cp:revision>
  <dcterms:created xsi:type="dcterms:W3CDTF">2013-01-27T09:14:16Z</dcterms:created>
  <dcterms:modified xsi:type="dcterms:W3CDTF">2026-07-07T12:56:52Z</dcterms:modified>
  <cp:category/>
</cp:coreProperties>
</file>